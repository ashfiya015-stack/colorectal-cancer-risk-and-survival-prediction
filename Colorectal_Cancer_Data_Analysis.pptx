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663440"/>
            <a:ext cx="4206240" cy="420624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Colorectal Cancer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Survival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analysis of demographic, lifestyle, clinical, healthcare, survival, and recurrence patterns in colorectal cancer patients.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89,945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5550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4892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0" y="5550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ANALYZED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4892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92240" y="5550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analysis  •  Python  •  Pandas  •  Seaborn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68735" y="6291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exploratory analysis set out to accomplish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2014240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dataset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08760" y="21671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characteristics of the patient dataset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8562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368" y="2014240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data quality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178040" y="21671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duplicate records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34670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3504712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73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patient traits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08760" y="3657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lifestyle, and clinical characteristics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09360" y="334670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icon_heartb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368" y="3504712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3273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outcomes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178040" y="3657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and recurrence patterns across patient groups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83717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icon_hospi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88" y="4995184"/>
            <a:ext cx="342351" cy="34235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47640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associations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508760" y="514807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stage, tumor aggressiveness, treatment, and healthcare access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309360" y="483717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icon_chart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368" y="4995184"/>
            <a:ext cx="342351" cy="34235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47640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178040" y="514807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data-driven summaries and visualizations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EDA-focused — no machine learning model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11368735" y="6291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Quality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89,945 patient records across 30 columns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46920" y="566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89,945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4692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EAF1FC"/>
          </a:solidFill>
          <a:ln/>
        </p:spPr>
      </p:sp>
      <p:sp>
        <p:nvSpPr>
          <p:cNvPr id="8" name="Shape 6"/>
          <p:cNvSpPr/>
          <p:nvPr/>
        </p:nvSpPr>
        <p:spPr>
          <a:xfrm>
            <a:off x="139903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095" y="2358055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953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6384" y="344728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Race, Region, Urban/Rural, Socioeconomic Status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2608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EAF1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68503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_stethosc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095" y="235805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35808" y="2953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72384" y="344728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at Diagnosis, Tumor Aggressiveness, Time to Diagnosis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21208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EAF1FC"/>
          </a:solidFill>
          <a:ln/>
        </p:spPr>
      </p:sp>
      <p:sp>
        <p:nvSpPr>
          <p:cNvPr id="18" name="Shape 14"/>
          <p:cNvSpPr/>
          <p:nvPr/>
        </p:nvSpPr>
        <p:spPr>
          <a:xfrm>
            <a:off x="597103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icon_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095" y="235805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21808" y="2953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358384" y="344728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diet, physical activity, smoking, alcohol, red meat, fiber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49808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EAF1FC"/>
          </a:solidFill>
          <a:ln/>
        </p:spPr>
      </p:sp>
      <p:sp>
        <p:nvSpPr>
          <p:cNvPr id="23" name="Shape 18"/>
          <p:cNvSpPr/>
          <p:nvPr/>
        </p:nvSpPr>
        <p:spPr>
          <a:xfrm>
            <a:off x="825703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icon_hospi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095" y="2358055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07808" y="2953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Treatment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644384" y="344728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Screening, insurance, treatment access, chemotherapy, radiotherapy, surgery, follow-up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78408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EAF1FC"/>
          </a:solidFill>
          <a:ln/>
        </p:spPr>
      </p:sp>
      <p:sp>
        <p:nvSpPr>
          <p:cNvPr id="28" name="Shape 22"/>
          <p:cNvSpPr/>
          <p:nvPr/>
        </p:nvSpPr>
        <p:spPr>
          <a:xfrm>
            <a:off x="1054303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icon_heartbe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9095" y="2358055"/>
            <a:ext cx="294803" cy="29480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93808" y="2953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9930384" y="344728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Status, Recurrence, Time to Recurrence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40080" y="525780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data types, and summary statistics reviewed.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treated as an identifier and excluded from analytical comparisons.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1368735" y="6291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&amp; Demographic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patient characteristics vary across groups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ANALYZED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340864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40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age and BMI distributions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962656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8620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overall Survival Status distribution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3584448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4838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survival patterns by gender and age group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4206240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1056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regional, urban/rural, and socioeconomic differences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1828800"/>
            <a:ext cx="5074920" cy="37947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21488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VISUALS 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2697480"/>
            <a:ext cx="420624" cy="420624"/>
          </a:xfrm>
          <a:prstGeom prst="ellipse">
            <a:avLst/>
          </a:prstGeom>
          <a:solidFill>
            <a:srgbClr val="162050"/>
          </a:solidFill>
          <a:ln/>
        </p:spPr>
      </p:sp>
      <p:pic>
        <p:nvPicPr>
          <p:cNvPr id="16" name="Image 0" descr="icon_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6920" y="2792120"/>
            <a:ext cx="231343" cy="23134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06640" y="27157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plots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12280" y="3264408"/>
            <a:ext cx="420624" cy="420624"/>
          </a:xfrm>
          <a:prstGeom prst="ellipse">
            <a:avLst/>
          </a:prstGeom>
          <a:solidFill>
            <a:srgbClr val="162050"/>
          </a:solidFill>
          <a:ln/>
        </p:spPr>
      </p:sp>
      <p:pic>
        <p:nvPicPr>
          <p:cNvPr id="19" name="Image 1" descr="icon_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920" y="3359048"/>
            <a:ext cx="231343" cy="23134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06640" y="32826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812280" y="3831336"/>
            <a:ext cx="420624" cy="420624"/>
          </a:xfrm>
          <a:prstGeom prst="ellipse">
            <a:avLst/>
          </a:prstGeom>
          <a:solidFill>
            <a:srgbClr val="162050"/>
          </a:solidFill>
          <a:ln/>
        </p:spPr>
      </p:sp>
      <p:pic>
        <p:nvPicPr>
          <p:cNvPr id="22" name="Image 2" descr="icon_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920" y="3925976"/>
            <a:ext cx="231343" cy="23134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06640" y="384962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12280" y="4398264"/>
            <a:ext cx="420624" cy="420624"/>
          </a:xfrm>
          <a:prstGeom prst="ellipse">
            <a:avLst/>
          </a:prstGeom>
          <a:solidFill>
            <a:srgbClr val="162050"/>
          </a:solidFill>
          <a:ln/>
        </p:spPr>
      </p:sp>
      <p:pic>
        <p:nvPicPr>
          <p:cNvPr id="25" name="Image 3" descr="icon_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920" y="4492904"/>
            <a:ext cx="231343" cy="23134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06640" y="44165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812280" y="4965192"/>
            <a:ext cx="420624" cy="420624"/>
          </a:xfrm>
          <a:prstGeom prst="ellipse">
            <a:avLst/>
          </a:prstGeom>
          <a:solidFill>
            <a:srgbClr val="162050"/>
          </a:solidFill>
          <a:ln/>
        </p:spPr>
      </p:sp>
      <p:pic>
        <p:nvPicPr>
          <p:cNvPr id="28" name="Image 4" descr="icon_chart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920" y="5059832"/>
            <a:ext cx="231343" cy="23134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06640" y="49834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Survival-rate comparisons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understanding how patient characteristics vary across groups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11368735" y="6291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Clinical, Lifestyle &amp; Healthcare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C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673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steth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1809415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16733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Factors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6112" y="231343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compared across cancer stages and tumor aggressiveness levels; family and previous cancer history examined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C"/>
          </a:solidFill>
          <a:ln/>
        </p:spPr>
      </p:sp>
      <p:sp>
        <p:nvSpPr>
          <p:cNvPr id="9" name="Shape 6"/>
          <p:cNvSpPr/>
          <p:nvPr/>
        </p:nvSpPr>
        <p:spPr>
          <a:xfrm>
            <a:off x="6565392" y="1673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_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55" y="180941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96912" y="16733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Factors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565392" y="231343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Diet, physical activity, smoking, alcohol, red meat, and fiber consumption analyzed against outcomes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4747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96112" y="37307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_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3866815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27632" y="3730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96112" y="437083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regularity, colonoscopy access, insurance coverage, and treatment access evaluated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09360" y="34747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565392" y="37307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455" y="3866815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96912" y="3730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&amp; Follow-up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565392" y="437083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patterns compared across chemotherapy, radiotherapy, surgery, and follow-up adherence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is descriptive — observed associations are not treated as causal effects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291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 &amp; Correlation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patterns and relationships among numerical variables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207911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476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overall recurrence rate and time to recurrence among patients with recurrence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icon_stethosc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299351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620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recurrence rates across cancer stages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icon_heartb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3907917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7764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recurrence rates across tumor aggressiveness levels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icon_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4822317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6908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cancer stage and tumor aggressiveness to examine survival patterns across groups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90372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CORRELATION HEATMAP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903720" y="1965960"/>
            <a:ext cx="832104" cy="832104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772400" y="1965960"/>
            <a:ext cx="832104" cy="832104"/>
          </a:xfrm>
          <a:prstGeom prst="rect">
            <a:avLst/>
          </a:prstGeom>
          <a:solidFill>
            <a:srgbClr val="5A6F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641080" y="1965960"/>
            <a:ext cx="832104" cy="832104"/>
          </a:xfrm>
          <a:prstGeom prst="rect">
            <a:avLst/>
          </a:prstGeom>
          <a:solidFill>
            <a:srgbClr val="9BAE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903720" y="2834640"/>
            <a:ext cx="832104" cy="832104"/>
          </a:xfrm>
          <a:prstGeom prst="rect">
            <a:avLst/>
          </a:prstGeom>
          <a:solidFill>
            <a:srgbClr val="5A6F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0" y="2834640"/>
            <a:ext cx="832104" cy="832104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641080" y="2834640"/>
            <a:ext cx="832104" cy="832104"/>
          </a:xfrm>
          <a:prstGeom prst="rect">
            <a:avLst/>
          </a:prstGeom>
          <a:solidFill>
            <a:srgbClr val="E87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903720" y="3703320"/>
            <a:ext cx="832104" cy="832104"/>
          </a:xfrm>
          <a:prstGeom prst="rect">
            <a:avLst/>
          </a:prstGeom>
          <a:solidFill>
            <a:srgbClr val="9BAE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0" y="3703320"/>
            <a:ext cx="832104" cy="832104"/>
          </a:xfrm>
          <a:prstGeom prst="rect">
            <a:avLst/>
          </a:prstGeom>
          <a:solidFill>
            <a:srgbClr val="E87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41080" y="3703320"/>
            <a:ext cx="832104" cy="832104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669280" y="1965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903720" y="464515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669280" y="28346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772400" y="464515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669280" y="3703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</a:t>
            </a:r>
            <a:endParaRPr lang="en-US" sz="1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641080" y="464515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areas: recurrence patterns and relationships among numerical variables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1368735" y="6291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029200" cy="502920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91" y="150373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624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view of colorectal cancer patient characteristics and outcomes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039112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9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91" y="2125523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and recurrence examined across demographic, clinical, lifestyle, healthcare, and treatment-related groups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2660904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2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1" y="2747315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606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stage and tumor aggressiveness were important dimensions for comparative analysis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3282696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5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1" y="3369107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2278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access, screening, treatment, and follow-up variables were explored for survival associations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40080" y="39044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8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91" y="3990899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Data Analyst skills: cleaning, EDA, visualization, comparative analysis, correlation analysis, and insight generation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40080" y="4636008"/>
            <a:ext cx="10881360" cy="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40080" y="4800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920240" y="4800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•   Pandas   •   NumPy   •   Matplotlib   •   Seaborn   •   Jupyter Notebook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descriptive associations and should not be interpreted as medical advice or causal conclusions.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1368735" y="6291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2026-08-13T13:40:51Z</dcterms:created>
  <dcterms:modified xsi:type="dcterms:W3CDTF">2026-08-13T13:40:51Z</dcterms:modified>
</cp:coreProperties>
</file>